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1280160" cy="548640"/>
          </a:xfrm>
          <a:prstGeom prst="roundRect">
            <a:avLst>
              <a:gd name="adj" fmla="val 30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BOZOapp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BOZP a PO bez papírů.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97BC62"/>
                </a:solidFill>
                <a:latin typeface="Calibri"/>
              </a:rPr>
              <a:t>Vertikální SaaS pro česká OZO a HR oddělení.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7BC62"/>
                </a:solidFill>
                <a:latin typeface="Calibri"/>
              </a:rPr>
              <a:t>Lukáš Voráček · OZO BOZP · zakladatel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voracek@bozoapp.cz   ·   bozoapp.cz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C5F2D"/>
                </a:solidFill>
                <a:latin typeface="Calibri"/>
              </a:rPr>
              <a:t>Co dnes řešíte ručně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368"/>
                </a:solidFill>
                <a:latin typeface="Calibri"/>
              </a:rPr>
              <a:t>BOZP/PO administrativa = papírový chaos, ztracený čas, audit obavy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24688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246888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27432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Papírové prezenčky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33832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Šanony, hledání podpisů. Auditor SÚIP přijde a vy hledáte 30 minut.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367" y="24688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8367" y="246888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6967" y="27432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Lhůty mimo kontrolu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33832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Lékařské, školení, revize — průměrný klient propasuje 3–5 termínů ročně.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24688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7287" y="246888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27432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Audit panika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33832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Před kontrolou 3 dny dohánění. Pokuty SÚIP do 2 mil. Kč na firmu.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6207" y="24688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6207" y="2468880"/>
            <a:ext cx="26060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4807" y="274320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Chyby v dokumentaci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807" y="338328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Nesprávné kategorie, chybějící podpisy, neaktuální RFA = neplatné záznamy.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C5F2D"/>
                </a:solidFill>
                <a:latin typeface="Calibri"/>
              </a:rPr>
              <a:t>Co stojí nedělat 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368"/>
                </a:solidFill>
                <a:latin typeface="Calibri"/>
              </a:rPr>
              <a:t>Tři reálné náklady, které se málokdy počítají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07" y="246888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2468880"/>
            <a:ext cx="356616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834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C5F2D"/>
                </a:solidFill>
                <a:latin typeface="Calibri"/>
              </a:rPr>
              <a:t>2 mil. Kč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4023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1A"/>
                </a:solidFill>
                <a:latin typeface="Calibri"/>
              </a:rPr>
              <a:t>Maximální pokuta SÚIP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4572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Za závažné porušení BOZP — chybějící školení, propadlé revize, neevidované úrazy.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246888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2767" y="2468880"/>
            <a:ext cx="356616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7087" y="2834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C5F2D"/>
                </a:solidFill>
                <a:latin typeface="Calibri"/>
              </a:rPr>
              <a:t>8 h / měsíc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4023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1A"/>
                </a:solidFill>
                <a:latin typeface="Calibri"/>
              </a:rPr>
              <a:t>Průměrný čas na papírování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4572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Hledání podpisů, ručně psané žádanky, telefony lékařům, evidence v Excelu.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527" y="246888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7527" y="2468880"/>
            <a:ext cx="3566160" cy="5486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847" y="28346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C5F2D"/>
                </a:solidFill>
                <a:latin typeface="Calibri"/>
              </a:rPr>
              <a:t>3–5 klientů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4023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2B1A"/>
                </a:solidFill>
                <a:latin typeface="Calibri"/>
              </a:rPr>
              <a:t>Ztratí OZO ročně kvůli chybám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1847" y="45720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Klient odejde po prvním šoku z auditu nebo když OZO propasuje termín.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C5F2D"/>
                </a:solidFill>
                <a:latin typeface="Calibri"/>
              </a:rPr>
              <a:t>BOZOapp — jeden systém, vše pod kontrolou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>Cloudová aplikace pro správu BOZP a PO.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>11 modulů. Vše propojené.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>Auto-detekce expirací, digitální podpisy, AI generátor dokumentů.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>Postaveno OZO pro OZO — řeší skutečnou každodennost,</a:t>
            </a:r>
          </a:p>
          <a:p>
            <a:pPr algn="l">
              <a:lnSpc>
                <a:spcPct val="150000"/>
              </a:lnSpc>
            </a:pPr>
            <a:r>
              <a:rPr sz="1800">
                <a:solidFill>
                  <a:srgbClr val="1A2B1A"/>
                </a:solidFill>
                <a:latin typeface="Calibri"/>
              </a:rPr>
              <a:t>ne marketing buzzwords.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937760" cy="4114800"/>
          </a:xfrm>
          <a:prstGeom prst="roundRect">
            <a:avLst>
              <a:gd name="adj" fmla="val 8000"/>
            </a:avLst>
          </a:prstGeom>
          <a:solidFill>
            <a:srgbClr val="1A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97BC62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402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Modulů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0175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97BC62"/>
                </a:solidFill>
                <a:latin typeface="Calibri"/>
              </a:rPr>
              <a:t>100 %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1546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Multi-tenant izolace (RLS)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9319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97BC62"/>
                </a:solidFill>
                <a:latin typeface="Calibri"/>
              </a:rPr>
              <a:t>eIDAS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Digitální podpisy 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8463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97BC62"/>
                </a:solidFill>
                <a:latin typeface="Calibri"/>
              </a:rPr>
              <a:t>Claude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9834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Generování BOZP dokumentů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Calibri"/>
              </a:rPr>
              <a:t>Vše, co OZO denně řeší — na jednom místě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17373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007" y="173736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Registr rizik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423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Hodnocení P × Z, kategorie, archivace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7373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2767" y="173736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Školení BOZP/PO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2423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Šablony, testy, podpisy, prezenčky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17373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527" y="173736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847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Lékařské prohlídky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847" y="2423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Auto-generování dle RFA + věku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007" y="33832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007" y="338328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Revize zařízení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327" y="4069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QR kódy, zákonné lhůty, terénní záznam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2767" y="33832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2767" y="338328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7087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Pracovní úrazy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7" y="4069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SÚIP-ready PDF, akční plán, fotky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7527" y="33832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7527" y="338328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OOPP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0690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Risk grid, výdeje, životnost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8007" y="502920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8007" y="502920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327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Zaměstnanci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327" y="57150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CSV import, pozice, kategorie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2767" y="502920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2767" y="502920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87087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Pracoviště + RFA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7087" y="57150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Provozovny, hodnocení faktorů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7527" y="502920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07527" y="5029200"/>
            <a:ext cx="73152" cy="14630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1847" y="5212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2B1A"/>
                </a:solidFill>
                <a:latin typeface="Calibri"/>
              </a:rPr>
              <a:t>AI dokumenty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1847" y="57150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B7368"/>
                </a:solidFill>
                <a:latin typeface="Calibri"/>
              </a:rPr>
              <a:t>Generátor BOZP/PO ze šablon (Claude)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USP #1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2C5F2D"/>
                </a:solidFill>
                <a:latin typeface="Calibri"/>
              </a:rPr>
              <a:t>Digitální podpisy bez papíru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368"/>
                </a:solidFill>
                <a:latin typeface="Calibri"/>
              </a:rPr>
              <a:t>Konec šanonů. Konec hledání podpisů. Konec auditního stresu.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54864" cy="6400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Canvas podpis na tabletu / mobilu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Zaměstnanec se podepíše prstem nebo stylusem. Server uloží PNG + IP + čas + UA.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54864" cy="6400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ZES (kvalifikovaný el. podpis) pro rizikové provozy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Email/SMS OTP před canvas. Odpovídá eIDAS čl. 26 — Zaručený el. podpis.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09160"/>
            <a:ext cx="54864" cy="6400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Prezenční listina jedním klikem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PDF s názvem školení, osnovou, IČO, logem firmy. Filtruje jen podepsané.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77840"/>
            <a:ext cx="54864" cy="6400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Per-zaměstnanec souhrn školení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Jeden PDF se všemi absolvovanými školeními. Pro auditora i pro zaměstnance.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USP #2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2C5F2D"/>
                </a:solidFill>
                <a:latin typeface="Calibri"/>
              </a:rPr>
              <a:t>AI generátor BOZP dokumentů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368"/>
                </a:solidFill>
                <a:latin typeface="Calibri"/>
              </a:rPr>
              <a:t>Claude API generuje šablony za vás. Vy schvalujete a publikujete.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AKTUÁLNÍ ŠABLONY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→ Registr rizik (per pracoviště)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→ Přehled školení (per zaměstnanec)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→ Harmonogram revizí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→ Lékařské prohlídky overview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→ + na vyžádání: cokoli specifické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JAK TO FUNGUJE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1. Klik 'Generovat dokument'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2. Claude AI sestaví draft za 5–10 s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3. Markdown editor pro doladění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4. PDF export jedním klikem</a:t>
            </a:r>
          </a:p>
          <a:p>
            <a:pPr algn="l">
              <a:lnSpc>
                <a:spcPct val="170000"/>
              </a:lnSpc>
            </a:pPr>
            <a:r>
              <a:rPr sz="1500">
                <a:solidFill>
                  <a:srgbClr val="1A2B1A"/>
                </a:solidFill>
                <a:latin typeface="Calibri"/>
              </a:rPr>
              <a:t>5. Auto-uložení do hierarchie složek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USP #3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2C5F2D"/>
                </a:solidFill>
                <a:latin typeface="Calibri"/>
              </a:rPr>
              <a:t>Auto-detekce + email reminders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368"/>
                </a:solidFill>
                <a:latin typeface="Calibri"/>
              </a:rPr>
              <a:t>Aplikace vás na expirace upozorní dřív, než stihnete propadnout.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07" y="292608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2926080"/>
            <a:ext cx="356616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Školení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79476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30 / 14 / 7 dní před expirací</a:t>
            </a:r>
          </a:p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Email s konkrétními zaměstnanci</a:t>
            </a:r>
          </a:p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Klik → re-přiřazení šablony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767" y="292608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767" y="2926080"/>
            <a:ext cx="356616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Lékařské prohlídky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79476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Automatický výpočet z RFA</a:t>
            </a:r>
          </a:p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30 / 14 / 7 dní před lhůtou</a:t>
            </a:r>
          </a:p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Žádanka generována jedním klikem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527" y="2926080"/>
            <a:ext cx="356616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527" y="2926080"/>
            <a:ext cx="356616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847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Akční plány úrazů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379476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14 / 7 / 0 dní před deadline akce</a:t>
            </a:r>
          </a:p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Per assignovaný uživatel</a:t>
            </a:r>
          </a:p>
          <a:p>
            <a:pPr algn="l">
              <a:lnSpc>
                <a:spcPct val="170000"/>
              </a:lnSpc>
            </a:pPr>
            <a:r>
              <a:rPr sz="1300">
                <a:solidFill>
                  <a:srgbClr val="6B7368"/>
                </a:solidFill>
                <a:latin typeface="Calibri"/>
              </a:rPr>
              <a:t>•  Audit-trail v reminders run logu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C5F2D"/>
                </a:solidFill>
                <a:latin typeface="Calibri"/>
              </a:rPr>
              <a:t>Cenník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368"/>
                </a:solidFill>
                <a:latin typeface="Calibri"/>
              </a:rPr>
              <a:t>Bez setup fee. Bez závazku. Faktura na bankovní převod (žádný Stripe nutný).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07" y="21945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2194560"/>
            <a:ext cx="3566160" cy="91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971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2B1A"/>
                </a:solidFill>
                <a:latin typeface="Calibri"/>
              </a:rPr>
              <a:t>990 Kč / měsíc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749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368"/>
                </a:solidFill>
                <a:latin typeface="Calibri"/>
              </a:rPr>
              <a:t>do 10 zaměstnanců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4297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367" y="4297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Všechny moduly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4709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367" y="4709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Email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327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367" y="5120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5 GB úložiště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327" y="5532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367" y="5532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Email podpora 48 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2767" y="21945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1A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2767" y="2194560"/>
            <a:ext cx="356616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7087" y="2468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7087" y="2971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1 990 Kč / měsíc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7087" y="3749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7BC62"/>
                </a:solidFill>
                <a:latin typeface="Calibri"/>
              </a:rPr>
              <a:t>do 30 zaměstnanců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7" y="4297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7127" y="4297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Vše ve 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7087" y="4709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7127" y="4709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AI generátor dokumentů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7087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7127" y="5120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ZES podpisy (SMS OTP)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7087" y="5532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7127" y="5532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Telefonní podpora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527" y="219456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7527" y="2194560"/>
            <a:ext cx="3566160" cy="91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1847" y="2468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CUSTOM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1847" y="2971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2B1A"/>
                </a:solidFill>
                <a:latin typeface="Calibri"/>
              </a:rPr>
              <a:t>Domluva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1847" y="37490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368"/>
                </a:solidFill>
                <a:latin typeface="Calibri"/>
              </a:rPr>
              <a:t>30+ zaměstnanců / multi-pobočka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1847" y="4297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1887" y="4297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Vše ve Standard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1847" y="4709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1887" y="47091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On-site školení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1847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1887" y="51206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Prioritní support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1847" y="5532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1887" y="5532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2B1A"/>
                </a:solidFill>
                <a:latin typeface="Calibri"/>
              </a:rPr>
              <a:t>Custom integrace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C5F2D"/>
                </a:solidFill>
                <a:latin typeface="Calibri"/>
              </a:rPr>
              <a:t>Proč BOZOapp?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368"/>
                </a:solidFill>
                <a:latin typeface="Calibri"/>
              </a:rPr>
              <a:t>Nejsme anonymní startup z Indie. Stavíme to my, OZO pro OZO.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OBVYKLÝ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× Generický (US-based, lokalizovaný do CZ)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× Sales tým bez znalosti BOZP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× Roční závazek + setup fee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× Email-only podpora 5+ dnů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× Roadmapa řízená marketingem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× Nebere v potaz CZ legislativu (NV 591, ZP § 102…)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BOZOapp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✓ Postaveno OZO BOZP s 2 lety praxe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✓ Tech stack na úrovni: FastAPI + Postgres RLS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✓ Bez závazku, bez setup fee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✓ Podpora od zakladatele osobně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✓ Roadmapa řízená vašimi požadavky</a:t>
            </a:r>
          </a:p>
          <a:p>
            <a:pPr algn="l">
              <a:lnSpc>
                <a:spcPct val="180000"/>
              </a:lnSpc>
            </a:pPr>
            <a:r>
              <a:rPr sz="1400">
                <a:solidFill>
                  <a:srgbClr val="1A2B1A"/>
                </a:solidFill>
                <a:latin typeface="Calibri"/>
              </a:rPr>
              <a:t>✓ Plně CZ — legislativa, formuláře, ARES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C5F2D"/>
                </a:solidFill>
                <a:latin typeface="Calibri"/>
              </a:rPr>
              <a:t>Co přijde dál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368"/>
                </a:solidFill>
                <a:latin typeface="Calibri"/>
              </a:rPr>
              <a:t>Roadmapa pro 2026 — řízená podle vašich požadavků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67" y="228600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567" y="2286000"/>
            <a:ext cx="2697480" cy="914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2560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30175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C5F2D"/>
                </a:solidFill>
                <a:latin typeface="Calibri"/>
              </a:rPr>
              <a:t>Aktuální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356616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Manuální fakturace + ARES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Email reminders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Digitální podpisy + ZES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6927" y="228600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6927" y="2286000"/>
            <a:ext cx="269748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5527" y="2560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527" y="30175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7BC62"/>
                </a:solidFill>
                <a:latin typeface="Calibri"/>
              </a:rPr>
              <a:t>V plánu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527" y="356616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PWA — terénní offline mód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Mobile-first redesign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Stripe pro platby kartou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28600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2286000"/>
            <a:ext cx="269748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2560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0175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Návrh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356616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AI risk scoring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Multi-jazyk (EN, SK, DE)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Integrace s Pohoda + Money S5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647" y="2286000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7647" y="2286000"/>
            <a:ext cx="2697480" cy="91440"/>
          </a:xfrm>
          <a:prstGeom prst="rect">
            <a:avLst/>
          </a:prstGeom>
          <a:solidFill>
            <a:srgbClr val="6B7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6247" y="2560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B1A"/>
                </a:solidFill>
                <a:latin typeface="Calibri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6247" y="30175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68"/>
                </a:solidFill>
                <a:latin typeface="Calibri"/>
              </a:rPr>
              <a:t>Vize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6247" y="3566160"/>
            <a:ext cx="2240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BOZOapp Marketplace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Bezplatné tier pro OZO &lt; 5 klientů</a:t>
            </a:r>
          </a:p>
          <a:p>
            <a:pPr algn="l">
              <a:lnSpc>
                <a:spcPct val="160000"/>
              </a:lnSpc>
            </a:pPr>
            <a:r>
              <a:rPr sz="1200">
                <a:solidFill>
                  <a:srgbClr val="1A2B1A"/>
                </a:solidFill>
                <a:latin typeface="Calibri"/>
              </a:rPr>
              <a:t>•  API pro účetní systémy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97BC62"/>
                </a:solidFill>
                <a:latin typeface="Calibri"/>
              </a:rPr>
              <a:t>DALŠÍ KROK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Půlhodinové demo. Nezávazně.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7BC62"/>
                </a:solidFill>
                <a:latin typeface="Calibri"/>
              </a:rPr>
              <a:t>Ukážu vám, jak BOZOapp vypadá s vašimi daty.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Lukáš Voráček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7BC62"/>
                </a:solidFill>
                <a:latin typeface="Calibri"/>
              </a:rPr>
              <a:t>Zakladatel · OZO BOZP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voracek@bozoapp.cz   ·   +420 XXX XXX XXX   ·   bozoapp.cz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